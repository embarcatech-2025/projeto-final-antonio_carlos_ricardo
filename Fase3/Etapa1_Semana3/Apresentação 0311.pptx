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870af3c71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9870af3c71_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870af3c7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9870af3c7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870af3c71_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9870af3c71_5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870af3c71_5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9870af3c71_5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870af3c7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870af3c71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870af3c7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9870af3c7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870af3c71_5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9870af3c71_5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870af3c71_8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9870af3c71_8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870af3c71_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9870af3c71_8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870af3c71_8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870af3c71_8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870af3c71_8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9870af3c71_8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870af3c71_8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9870af3c71_8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90" name="Google Shape;9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91" name="Google Shape;9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20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92" name="Google Shape;9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0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294480" y="1108080"/>
            <a:ext cx="11602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Estação Meteorológica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99" name="Google Shape;9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00" name="Google Shape;10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1: Conhecendo o cliente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602875" y="2278725"/>
            <a:ext cx="11294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pt-BR" sz="2400">
                <a:solidFill>
                  <a:schemeClr val="dk1"/>
                </a:solidFill>
              </a:rPr>
              <a:t>Perfil:</a:t>
            </a:r>
            <a:r>
              <a:rPr lang="pt-BR" sz="2400">
                <a:solidFill>
                  <a:schemeClr val="dk1"/>
                </a:solidFill>
              </a:rPr>
              <a:t> Foco no </a:t>
            </a:r>
            <a:r>
              <a:rPr lang="pt-BR" sz="2400">
                <a:solidFill>
                  <a:schemeClr val="dk1"/>
                </a:solidFill>
              </a:rPr>
              <a:t>agronegócio</a:t>
            </a:r>
            <a:r>
              <a:rPr lang="pt-BR" sz="2400">
                <a:solidFill>
                  <a:schemeClr val="dk1"/>
                </a:solidFill>
              </a:rPr>
              <a:t> </a:t>
            </a:r>
            <a:br>
              <a:rPr lang="pt-BR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pt-BR" sz="2400">
                <a:solidFill>
                  <a:schemeClr val="dk1"/>
                </a:solidFill>
              </a:rPr>
              <a:t>Dor: </a:t>
            </a:r>
            <a:r>
              <a:rPr lang="pt-BR" sz="2400">
                <a:solidFill>
                  <a:schemeClr val="dk1"/>
                </a:solidFill>
              </a:rPr>
              <a:t>Faltam dados hiperlocais, pois as estações ficam a quilômetros de distância.</a:t>
            </a:r>
            <a:br>
              <a:rPr lang="pt-BR" sz="2400">
                <a:solidFill>
                  <a:schemeClr val="dk1"/>
                </a:solidFill>
              </a:rPr>
            </a:br>
            <a:br>
              <a:rPr lang="pt-BR" sz="2400">
                <a:solidFill>
                  <a:schemeClr val="dk1"/>
                </a:solidFill>
              </a:rPr>
            </a:br>
            <a:r>
              <a:rPr b="1" lang="pt-BR" sz="2400">
                <a:solidFill>
                  <a:schemeClr val="dk1"/>
                </a:solidFill>
              </a:rPr>
              <a:t>Necessidades chave: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pt-BR" sz="2400">
                <a:solidFill>
                  <a:schemeClr val="dk1"/>
                </a:solidFill>
              </a:rPr>
              <a:t>Autonomia:</a:t>
            </a:r>
            <a:r>
              <a:rPr lang="pt-BR" sz="2400">
                <a:solidFill>
                  <a:schemeClr val="dk1"/>
                </a:solidFill>
              </a:rPr>
              <a:t> Energia solar/bateria.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pt-BR" sz="2400">
                <a:solidFill>
                  <a:schemeClr val="dk1"/>
                </a:solidFill>
              </a:rPr>
              <a:t>Robustez:</a:t>
            </a:r>
            <a:r>
              <a:rPr lang="pt-BR" sz="2400">
                <a:solidFill>
                  <a:schemeClr val="dk1"/>
                </a:solidFill>
              </a:rPr>
              <a:t> Resistência a chuva, sol e vento.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pt-BR" sz="2400">
                <a:solidFill>
                  <a:schemeClr val="dk1"/>
                </a:solidFill>
              </a:rPr>
              <a:t>Dados:</a:t>
            </a:r>
            <a:r>
              <a:rPr lang="pt-BR" sz="2400">
                <a:solidFill>
                  <a:schemeClr val="dk1"/>
                </a:solidFill>
              </a:rPr>
              <a:t> Controle local dos dados.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107" name="Google Shape;1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108" name="Google Shape;10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09" name="Google Shape;10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1: Conhecendo o problema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02875" y="2278725"/>
            <a:ext cx="11294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Soluções Gratuitas: 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Pouca densidade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falha em capturar eventos </a:t>
            </a:r>
            <a:r>
              <a:rPr lang="pt-BR" sz="2400">
                <a:solidFill>
                  <a:schemeClr val="dk1"/>
                </a:solidFill>
              </a:rPr>
              <a:t>hiperlocais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	</a:t>
            </a:r>
            <a:r>
              <a:rPr b="1" lang="pt-BR" sz="2400">
                <a:solidFill>
                  <a:schemeClr val="dk1"/>
                </a:solidFill>
              </a:rPr>
              <a:t>Soluções pagas: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Custo alto(Hardware + Assinatura)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Tecnologia fechada(lock-in). Cliente fica preso ao fornecedor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Impacto: </a:t>
            </a:r>
            <a:r>
              <a:rPr lang="pt-BR" sz="2400">
                <a:solidFill>
                  <a:schemeClr val="dk1"/>
                </a:solidFill>
              </a:rPr>
              <a:t>Decisões baseadas em "achismo", gerando desperdício de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insumos (água, defensivos) e perda de produtividade.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116" name="Google Shape;1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117" name="Google Shape;11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18" name="Google Shape;11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1: Nossa proposta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39032" y="1877575"/>
            <a:ext cx="112944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pt-BR" sz="2400">
                <a:solidFill>
                  <a:schemeClr val="dk1"/>
                </a:solidFill>
              </a:rPr>
              <a:t>Proposta:</a:t>
            </a:r>
            <a:r>
              <a:rPr lang="pt-BR" sz="2400">
                <a:solidFill>
                  <a:schemeClr val="dk1"/>
                </a:solidFill>
              </a:rPr>
              <a:t> Democratizar dados meteorológicos com uma estação IoT Open-Source.</a:t>
            </a:r>
            <a:br>
              <a:rPr lang="pt-BR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pt-BR" sz="2400">
                <a:solidFill>
                  <a:schemeClr val="dk1"/>
                </a:solidFill>
              </a:rPr>
              <a:t>O'Que</a:t>
            </a:r>
            <a:r>
              <a:rPr b="1" lang="pt-BR" sz="2400">
                <a:solidFill>
                  <a:schemeClr val="dk1"/>
                </a:solidFill>
              </a:rPr>
              <a:t> entrega: </a:t>
            </a:r>
            <a:r>
              <a:rPr lang="pt-BR" sz="2400">
                <a:solidFill>
                  <a:schemeClr val="dk1"/>
                </a:solidFill>
              </a:rPr>
              <a:t>A mesma precisão e autonomia de soluções pagas, mas a um custo menor.</a:t>
            </a:r>
            <a:br>
              <a:rPr lang="pt-BR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pt-BR" sz="2400">
                <a:solidFill>
                  <a:schemeClr val="dk1"/>
                </a:solidFill>
              </a:rPr>
              <a:t>Por que Open-Source:</a:t>
            </a:r>
            <a:endParaRPr b="1"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pt-BR" sz="2400">
                <a:solidFill>
                  <a:schemeClr val="dk1"/>
                </a:solidFill>
              </a:rPr>
              <a:t>Sem Assinatura:</a:t>
            </a:r>
            <a:r>
              <a:rPr lang="pt-BR" sz="2400">
                <a:solidFill>
                  <a:schemeClr val="dk1"/>
                </a:solidFill>
              </a:rPr>
              <a:t> O cliente é dono do hardware e dos seus dados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pt-BR" sz="2400">
                <a:solidFill>
                  <a:schemeClr val="dk1"/>
                </a:solidFill>
              </a:rPr>
              <a:t>Transparência:</a:t>
            </a:r>
            <a:r>
              <a:rPr lang="pt-BR" sz="2400">
                <a:solidFill>
                  <a:schemeClr val="dk1"/>
                </a:solidFill>
              </a:rPr>
              <a:t> Permite customização e melhoria contínua pela comunidade 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pt-BR" sz="2400">
                <a:solidFill>
                  <a:schemeClr val="dk1"/>
                </a:solidFill>
              </a:rPr>
              <a:t>Escalabilidade: </a:t>
            </a:r>
            <a:r>
              <a:rPr lang="pt-BR" sz="2400">
                <a:solidFill>
                  <a:schemeClr val="dk1"/>
                </a:solidFill>
              </a:rPr>
              <a:t>O baixo custo permite criar redes de monitoramento 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muito mais densas.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125" name="Google Shape;1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126" name="Google Shape;12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27" name="Google Shape;12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1: TRL atual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351357" y="1878650"/>
            <a:ext cx="112944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Atualmente estamos no TRL 4 (Protótipo de laboratório)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Provamos que o conceito é tecnicamente </a:t>
            </a:r>
            <a:r>
              <a:rPr lang="pt-BR" sz="2400">
                <a:solidFill>
                  <a:schemeClr val="dk1"/>
                </a:solidFill>
              </a:rPr>
              <a:t>viável</a:t>
            </a:r>
            <a:r>
              <a:rPr lang="pt-BR" sz="2400">
                <a:solidFill>
                  <a:schemeClr val="dk1"/>
                </a:solidFill>
              </a:rPr>
              <a:t> em ambiente controlado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Os sensores estão funcionando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Apenas o wifi como forma de </a:t>
            </a:r>
            <a:r>
              <a:rPr lang="pt-BR" sz="2400">
                <a:solidFill>
                  <a:schemeClr val="dk1"/>
                </a:solidFill>
              </a:rPr>
              <a:t>transmissão</a:t>
            </a:r>
            <a:r>
              <a:rPr lang="pt-BR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	</a:t>
            </a:r>
            <a:r>
              <a:rPr b="1" lang="pt-BR" sz="2400">
                <a:solidFill>
                  <a:schemeClr val="dk1"/>
                </a:solidFill>
              </a:rPr>
              <a:t>Entretanto…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Depende unicamente do wifi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Sem autonomia energética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Sem a case adequada para ambientes externos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134" name="Google Shape;13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135" name="Google Shape;13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36" name="Google Shape;13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1: TRL almejado 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351357" y="1878650"/>
            <a:ext cx="112944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	Temos como objetivo alcançar o TRL 7 (Protótipo em ambiente real)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 meta é ter esse sistemas composto por nós espalhados em um ambiente real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	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	</a:t>
            </a:r>
            <a:r>
              <a:rPr b="1" lang="pt-BR" sz="2400">
                <a:solidFill>
                  <a:schemeClr val="dk1"/>
                </a:solidFill>
              </a:rPr>
              <a:t>Para isso precisamos desenvolver: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Proteção do Hardware com uma case adequada ao ambiente externo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Autonomia</a:t>
            </a:r>
            <a:r>
              <a:rPr lang="pt-BR" sz="2400">
                <a:solidFill>
                  <a:schemeClr val="dk1"/>
                </a:solidFill>
              </a:rPr>
              <a:t> energética, com baterias e possivelmente </a:t>
            </a:r>
            <a:r>
              <a:rPr lang="pt-BR" sz="2400">
                <a:solidFill>
                  <a:schemeClr val="dk1"/>
                </a:solidFill>
              </a:rPr>
              <a:t>painéis</a:t>
            </a:r>
            <a:r>
              <a:rPr lang="pt-BR" sz="2400">
                <a:solidFill>
                  <a:schemeClr val="dk1"/>
                </a:solidFill>
              </a:rPr>
              <a:t> </a:t>
            </a:r>
            <a:r>
              <a:rPr lang="pt-BR" sz="2400">
                <a:solidFill>
                  <a:schemeClr val="dk1"/>
                </a:solidFill>
              </a:rPr>
              <a:t>solares</a:t>
            </a:r>
            <a:r>
              <a:rPr lang="pt-BR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 sz="2400">
                <a:solidFill>
                  <a:schemeClr val="dk1"/>
                </a:solidFill>
              </a:rPr>
            </a:br>
            <a:r>
              <a:rPr b="1" lang="pt-BR" sz="2400">
                <a:solidFill>
                  <a:schemeClr val="dk1"/>
                </a:solidFill>
              </a:rPr>
              <a:t>E mais importante…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Um sistema de conectividade altamente redundante, com WiFi e LoRa. Juntamente com uma rede robusta para gestão de dados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143" name="Google Shape;1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144" name="Google Shape;14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45" name="Google Shape;14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1: Parceria com a UNICAMP 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351350" y="1878650"/>
            <a:ext cx="11458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Justamente para solucionar esse desafio da integração da BitDogLab com a comunicação LoRa, faremos a integração com os pesquisadores responsaveis pelo projeto:</a:t>
            </a:r>
            <a:r>
              <a:rPr lang="pt-BR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’’An Open-Source LoRaWAN Architecture for Educational and Scientific IoT Applications: A Case Study Using BitDogLab ’’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Isso será muito benéfico ao projeto, visto que já teremos um periférico e </a:t>
            </a:r>
            <a:r>
              <a:rPr b="1" lang="pt-BR" sz="2400">
                <a:solidFill>
                  <a:schemeClr val="dk1"/>
                </a:solidFill>
              </a:rPr>
              <a:t>protocolos</a:t>
            </a:r>
            <a:r>
              <a:rPr b="1" lang="pt-BR" sz="2400">
                <a:solidFill>
                  <a:schemeClr val="dk1"/>
                </a:solidFill>
              </a:rPr>
              <a:t> de comunicação 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152" name="Google Shape;1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153" name="Google Shape;15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54" name="Google Shape;15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2: A</a:t>
            </a:r>
            <a:r>
              <a:rPr b="1" lang="pt-BR" sz="3000"/>
              <a:t>rquitetura e especificações técnicas</a:t>
            </a:r>
            <a:endParaRPr b="1" sz="44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</p:txBody>
      </p:sp>
      <p:sp>
        <p:nvSpPr>
          <p:cNvPr id="156" name="Google Shape;156;p21"/>
          <p:cNvSpPr txBox="1"/>
          <p:nvPr/>
        </p:nvSpPr>
        <p:spPr>
          <a:xfrm>
            <a:off x="839100" y="1757450"/>
            <a:ext cx="10696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</a:rPr>
              <a:t>ARQUITETURA: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pt-BR" sz="2800">
                <a:solidFill>
                  <a:schemeClr val="dk1"/>
                </a:solidFill>
              </a:rPr>
              <a:t>Modular e escalável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pt-BR" sz="2800">
                <a:solidFill>
                  <a:schemeClr val="dk1"/>
                </a:solidFill>
              </a:rPr>
              <a:t>Múltiplas estações energeticamente autônomas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pt-BR" sz="2800">
                <a:solidFill>
                  <a:schemeClr val="dk1"/>
                </a:solidFill>
              </a:rPr>
              <a:t>Comunicação LoRaWAN (topologia estrela de estrelas)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602800" y="4116125"/>
            <a:ext cx="499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Requisitos Funcionais: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Diversas grandezas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Armazenamento diferido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Comunicar anomalias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Dashboards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Manter dados históricos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5739200" y="4116125"/>
            <a:ext cx="499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Requisitos Não Funcionais: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Modularidade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Escalabilidade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Robustez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Manutenibilidade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Segurança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163" name="Google Shape;16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164" name="Google Shape;16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65" name="Google Shape;16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2: Arquitetura e especificações técnicas</a:t>
            </a:r>
            <a:endParaRPr b="1" sz="44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</p:txBody>
      </p:sp>
      <p:pic>
        <p:nvPicPr>
          <p:cNvPr id="167" name="Google Shape;16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0875" y="1660575"/>
            <a:ext cx="7567801" cy="49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172" name="Google Shape;17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173" name="Google Shape;17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74" name="Google Shape;17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3: Escolha de Hardware</a:t>
            </a:r>
            <a:endParaRPr b="1" sz="44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</p:txBody>
      </p:sp>
      <p:sp>
        <p:nvSpPr>
          <p:cNvPr id="176" name="Google Shape;176;p23"/>
          <p:cNvSpPr txBox="1"/>
          <p:nvPr/>
        </p:nvSpPr>
        <p:spPr>
          <a:xfrm>
            <a:off x="679800" y="2019400"/>
            <a:ext cx="100572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Hardware da estação: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BitDogLab com Pico2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Módulo de WiFi (ESP32-c3) e LoRa (RFM95W)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Sensores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Hardware gateway LoRaWAN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RAK7289CV2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Hardware Gateway WiFi (opcional):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Servidor com container JavaSpring, que recebe pacotes WiFi e converte em MQTT e envia para o TTN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181" name="Google Shape;18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182" name="Google Shape;18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83" name="Google Shape;18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4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3: Escolha de Hardware</a:t>
            </a:r>
            <a:endParaRPr b="1" sz="44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</p:txBody>
      </p:sp>
      <p:sp>
        <p:nvSpPr>
          <p:cNvPr id="185" name="Google Shape;185;p24"/>
          <p:cNvSpPr txBox="1"/>
          <p:nvPr/>
        </p:nvSpPr>
        <p:spPr>
          <a:xfrm>
            <a:off x="679800" y="2349325"/>
            <a:ext cx="10057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Servidor Gateway Bridge + Network Server</a:t>
            </a:r>
            <a:r>
              <a:rPr lang="pt-BR" sz="2400">
                <a:solidFill>
                  <a:schemeClr val="dk1"/>
                </a:solidFill>
              </a:rPr>
              <a:t>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TTN - The Things Network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Application Server: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ThingsBoard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190" name="Google Shape;1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191" name="Google Shape;19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92" name="Google Shape;19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5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3: c</a:t>
            </a:r>
            <a:r>
              <a:rPr b="1" lang="pt-BR" sz="3000">
                <a:solidFill>
                  <a:schemeClr val="dk1"/>
                </a:solidFill>
              </a:rPr>
              <a:t>ont. Planejamento para mudanças</a:t>
            </a:r>
            <a:endParaRPr b="1" sz="44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</p:txBody>
      </p:sp>
      <p:sp>
        <p:nvSpPr>
          <p:cNvPr id="194" name="Google Shape;194;p25"/>
          <p:cNvSpPr txBox="1"/>
          <p:nvPr/>
        </p:nvSpPr>
        <p:spPr>
          <a:xfrm>
            <a:off x="679800" y="2519275"/>
            <a:ext cx="10057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Opções de CPU</a:t>
            </a:r>
            <a:r>
              <a:rPr lang="pt-BR" sz="2400">
                <a:solidFill>
                  <a:schemeClr val="dk1"/>
                </a:solidFill>
              </a:rPr>
              <a:t>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BitDogLab V7 com RP2350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Esp32-C3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Opções de WiFI</a:t>
            </a:r>
            <a:r>
              <a:rPr lang="pt-BR" sz="2400">
                <a:solidFill>
                  <a:schemeClr val="dk1"/>
                </a:solidFill>
              </a:rPr>
              <a:t>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Pico2_W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Esp32-C3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199" name="Google Shape;19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200" name="Google Shape;20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19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201" name="Google Shape;20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1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6"/>
          <p:cNvSpPr/>
          <p:nvPr/>
        </p:nvSpPr>
        <p:spPr>
          <a:xfrm>
            <a:off x="294480" y="1108080"/>
            <a:ext cx="1160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Etapa 1 - Semana 3: c</a:t>
            </a:r>
            <a:r>
              <a:rPr b="1" lang="pt-BR" sz="3000">
                <a:solidFill>
                  <a:schemeClr val="dk1"/>
                </a:solidFill>
              </a:rPr>
              <a:t>ont. Planejamento para mudanças</a:t>
            </a:r>
            <a:endParaRPr b="1" sz="44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</p:txBody>
      </p:sp>
      <p:sp>
        <p:nvSpPr>
          <p:cNvPr id="203" name="Google Shape;203;p26"/>
          <p:cNvSpPr txBox="1"/>
          <p:nvPr/>
        </p:nvSpPr>
        <p:spPr>
          <a:xfrm>
            <a:off x="679800" y="2369300"/>
            <a:ext cx="10057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Opções de “Gateway Bridge + Network Server”: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TTN - The Things Network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TTS - The Things Stack (OSE)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ChirpStack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Opções de Application Server: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ThjngsBoard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OpenRemote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Thinger.io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, nome da empresa&#10;&#10;O conteúdo gerado por IA pode estar incorreto." id="208" name="Google Shape;2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60" y="356760"/>
            <a:ext cx="200952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209" name="Google Shape;20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1520" y="326160"/>
            <a:ext cx="4000320" cy="780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210" name="Google Shape;21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5600" y="5249520"/>
            <a:ext cx="1056960" cy="10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/>
          <p:nvPr/>
        </p:nvSpPr>
        <p:spPr>
          <a:xfrm>
            <a:off x="294480" y="1108080"/>
            <a:ext cx="11602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Estação Meteorológica 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5005800" y="3561125"/>
            <a:ext cx="2180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dk1"/>
                </a:solidFill>
              </a:rPr>
              <a:t>Obrigado!</a:t>
            </a:r>
            <a:endParaRPr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